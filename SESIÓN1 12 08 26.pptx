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96" r:id="rId1"/>
  </p:sldMasterIdLst>
  <p:notesMasterIdLst>
    <p:notesMasterId r:id="rId31"/>
  </p:notesMasterIdLst>
  <p:sldIdLst>
    <p:sldId id="256" r:id="rId2"/>
    <p:sldId id="286" r:id="rId3"/>
    <p:sldId id="493" r:id="rId4"/>
    <p:sldId id="505" r:id="rId5"/>
    <p:sldId id="504" r:id="rId6"/>
    <p:sldId id="517" r:id="rId7"/>
    <p:sldId id="513" r:id="rId8"/>
    <p:sldId id="514" r:id="rId9"/>
    <p:sldId id="516" r:id="rId10"/>
    <p:sldId id="518" r:id="rId11"/>
    <p:sldId id="519" r:id="rId12"/>
    <p:sldId id="520" r:id="rId13"/>
    <p:sldId id="523" r:id="rId14"/>
    <p:sldId id="521" r:id="rId15"/>
    <p:sldId id="522" r:id="rId16"/>
    <p:sldId id="507" r:id="rId17"/>
    <p:sldId id="508" r:id="rId18"/>
    <p:sldId id="501" r:id="rId19"/>
    <p:sldId id="509" r:id="rId20"/>
    <p:sldId id="510" r:id="rId21"/>
    <p:sldId id="511" r:id="rId22"/>
    <p:sldId id="502" r:id="rId23"/>
    <p:sldId id="479" r:id="rId24"/>
    <p:sldId id="506" r:id="rId25"/>
    <p:sldId id="503" r:id="rId26"/>
    <p:sldId id="524" r:id="rId27"/>
    <p:sldId id="500" r:id="rId28"/>
    <p:sldId id="279" r:id="rId29"/>
    <p:sldId id="261" r:id="rId30"/>
  </p:sldIdLst>
  <p:sldSz cx="9144000" cy="5715000" type="screen16x10"/>
  <p:notesSz cx="6858000" cy="9144000"/>
  <p:defaultTextStyle>
    <a:defPPr>
      <a:defRPr lang="es-CO"/>
    </a:defPPr>
    <a:lvl1pPr algn="l" defTabSz="720725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360363" indent="96838" algn="l" defTabSz="720725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720725" indent="193675" algn="l" defTabSz="720725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081088" indent="290513" algn="l" defTabSz="720725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441450" indent="387350" algn="l" defTabSz="720725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07" autoAdjust="0"/>
    <p:restoredTop sz="93969" autoAdjust="0"/>
  </p:normalViewPr>
  <p:slideViewPr>
    <p:cSldViewPr snapToGrid="0">
      <p:cViewPr varScale="1">
        <p:scale>
          <a:sx n="147" d="100"/>
          <a:sy n="147" d="100"/>
        </p:scale>
        <p:origin x="1024" y="184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09984BD-1B22-43C3-D6B7-4D6422AF38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0ABF62F-389A-EE0C-87C3-3449F97AD2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9AA4D59-05CC-2548-B979-70BD0A443857}" type="datetimeFigureOut">
              <a:rPr lang="en-US"/>
              <a:pPr>
                <a:defRPr/>
              </a:pPr>
              <a:t>8/11/26</a:t>
            </a:fld>
            <a:endParaRPr lang="en-US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0A826A40-0807-49AE-FBBE-2B020A322C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FF2AFA91-FB3A-DCE5-1A72-3148AC3CE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U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64441F-243C-5414-91C0-1E2359F546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7A1838-E73F-2142-8CD4-56480BE1A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BBB8A2D-9D3B-C24B-B626-084189043195}" type="slidenum">
              <a:rPr lang="en-US" altLang="es-CO"/>
              <a:pPr/>
              <a:t>‹Nº›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13801302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2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3546932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2BFFD-7EEE-F070-0858-5F00E8D0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06E2099-BB35-F8F0-2BD9-3CC252CDA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77326E7-AF07-BB13-720E-39492DD72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A9F458-0E51-8048-AEF6-AB78E2434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3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1103500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03491-AC4D-2E07-FC48-8DD998A16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2F9B30-4901-2115-F5CE-5DCDA92D4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5B817F3-289A-A51A-A24E-FE59DF51D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724EF6-5812-8EAB-B821-4FE2CB69A5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4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2677308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86CA8-1E8A-CDE6-6D63-13ED41372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5E4980B-D8AC-FBDF-AAED-B548201ED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9C23E7C-6F5F-89E7-DC5E-804EFB283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2B9675-1BEB-7F42-838E-234E67635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5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154762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9050-9B71-0282-BF4D-C71CE055B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C5B1B9E-1786-4472-911D-02124D2A0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488F382-618D-07F1-A16A-AAD5A89DF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0605FF-CA87-8BDF-5596-93493F27D4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6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1101473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9B096-25C1-E372-8474-FF9339CFB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5C01A50-A99C-2571-37B3-CA9043D24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8518014-B430-ECA3-2F89-1BA6E8FFD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299881-C1FF-BCD5-97D0-BD1AE5F01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7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3654522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5B9EF-EC8F-09AE-6199-87B473DAF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D7610C-3EB6-5F64-8F0F-8B8565498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70391AA-73A9-02AE-5839-F3EB7FAC0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5104D3-50FD-D2A7-724C-69B4C36BB7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8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1932918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2B68D-0701-E23D-D773-DB16AE8FC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C67A66F-EFA7-6068-3EB1-A81F9780E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16B0A29-85F9-C722-577A-1C17376A0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DE5EA2-EDB8-54EF-13B4-532A3FD90D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9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2154941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4A1A0-C08D-592F-8576-AA38BC4C9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B20025F-1ED6-EF1E-D9E6-B1D7EF095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7D16172-DFCB-3BA3-0A69-0039F95B3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2639D1-0504-4111-D1BB-522077493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10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464134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CB574-DBA1-01E7-A4F5-11378B16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57B5702-8109-30B4-9A25-97D213A2B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E8BAE54-8486-A631-D7F0-A90D0B701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E0F6C3-F694-9107-D616-8AA266091D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11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1839790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21948-7BE1-7BA7-132A-2B43DA1D4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623760-28C2-5C26-0767-96C75DEC9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0A06B4D-2160-308A-4368-89FE60CB8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323E21-8AEB-0056-862B-BC39DCDEE0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12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1503525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D963C-0025-2028-4ADC-CE86AD66A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8D5E639-6880-477F-BFD7-60B3048D2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7E9975-ED10-134F-D8A4-BD40D3DBE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063727-FB3A-87AA-3677-A268F3EEF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13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4198015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74DB2-03E3-E3B3-808C-D1FBF491C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F739C0-DF8B-75C3-176E-949F0AA15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736CCDD-A2EC-9BED-96AC-3D9851A10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362828-958F-B84D-A057-7792C3A605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14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2044808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3DF39-D3BE-4A0D-CEB6-454BE0345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A55B39-02EF-0E53-6731-9090F750C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7F3CE2A-A5CB-7984-1FEF-281EC487D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E65BFF-02E3-16F1-AAEA-7B0C834863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15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37023924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247C4-9B07-CB00-C8B2-338F794B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73DE3AA-1A2F-EC99-D976-98273A0F5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F1DD5A3-F910-F5BE-392A-700EA2EBD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2D98E8-F3DC-DAC0-520B-E4DB31571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16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3182490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07007-8E0C-EEB3-7F01-8F5A66BFB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6C7656-9E1F-E575-A74E-17A827EB8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B0F33C-571F-742D-43D1-E37952267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0FB296-AA29-ECD4-5C40-3CDC1985BF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17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14833351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BE936-F1EF-52F7-A8D9-6F6CA2552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577B83-5AC0-CF02-6240-C1E40CDFF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E87BEF-E1C0-ED14-FB38-3959ACD31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4FADDC-6B35-A88D-2ECE-D2CF5D379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18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23642567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41AB4-8452-23C4-5DDA-EB1A0012C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103A84E-87A2-159A-0803-CA40D8B02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85FECC0-7720-0105-2490-3D91DFE3F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CC39DF-379E-3FE6-D46C-590E1D6B62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19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4300511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BB12C-E682-7F6B-2135-E160D9BEC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753730A-3A32-0F3E-79E7-CEBA09710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088C148-C1FB-FC11-ACDC-123E9CAC5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6D125E-AE9D-AE3D-CFB2-F02E298573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20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1350250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E0514-ADFC-3903-7EB6-D28D7AAAA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68FF9B7-B8AA-2C5C-5D3B-EADF03059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ACBEB57-6E83-43C8-763E-EAFD5B525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936084-C45C-ED25-5DF1-EAFA98DE71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21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34564151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55878-73D1-DDCC-5F4B-B8FDAA214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0B65120-4C8D-46D4-8C7B-397A4864D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659530-BE89-0784-2802-4C87A0E10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C44CBB-09E0-421F-F225-103206B04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22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34851686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AB990-F9B6-8990-E77A-7C6C7507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0470FF2-E86C-F00C-5B01-689DDC0A5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D8FAF63-14AF-12BD-5D98-8208E2DCF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9FBBD7-B936-1BFF-16C1-11E4CAA04E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23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16454044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10650-D771-5C08-15B5-D2921D84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41575AA-5666-76B9-F84C-FD1DC63A2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F5F6AB6-C12F-5523-2A76-C44E44634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8F0C82-65B0-1F0A-5B0D-44E755038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24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34558437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CAB86-27EC-B0DD-D979-71607A112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0969EAB-D08C-05BA-E4E4-C2C139120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FF44D4-EBAA-AB96-3D09-BE06F2638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A6AA5E-BFAB-B7B9-5BA4-A4FF5880D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25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8424167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C39DF-DA4C-FD87-E5A5-396679904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CB9432C-28B9-E5CB-91FF-08B647EDE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64A71F4-71CA-B059-EACB-52701BCEC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D998AA-F07E-2653-93CE-65026F077E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26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23746929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B73C8-A076-5443-A689-45C58E734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B598DB2-1A25-FC86-CD4A-9B8730257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0B170F-1473-0C05-7A82-072DC4918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9908F4-3A2A-4BE1-77CE-00A0AD7F3E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B8A2D-9D3B-C24B-B626-084189043195}" type="slidenum">
              <a:rPr lang="en-US" altLang="es-CO" smtClean="0"/>
              <a:pPr/>
              <a:t>27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17603339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imagen de diapositiva 1">
            <a:extLst>
              <a:ext uri="{FF2B5EF4-FFF2-40B4-BE49-F238E27FC236}">
                <a16:creationId xmlns:a16="http://schemas.microsoft.com/office/drawing/2014/main" id="{276ED9E6-2AC2-21DF-8769-760A828490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Marcador de notas 2">
            <a:extLst>
              <a:ext uri="{FF2B5EF4-FFF2-40B4-BE49-F238E27FC236}">
                <a16:creationId xmlns:a16="http://schemas.microsoft.com/office/drawing/2014/main" id="{75B495CB-B09A-F438-5C0D-8B10E9D560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s-CO"/>
          </a:p>
        </p:txBody>
      </p:sp>
      <p:sp>
        <p:nvSpPr>
          <p:cNvPr id="5124" name="Marcador de número de diapositiva 3">
            <a:extLst>
              <a:ext uri="{FF2B5EF4-FFF2-40B4-BE49-F238E27FC236}">
                <a16:creationId xmlns:a16="http://schemas.microsoft.com/office/drawing/2014/main" id="{0D7B36D4-68E4-3B03-5472-2CEE067F8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6FC80E2-1583-774C-831C-8139F9444715}" type="slidenum">
              <a:rPr lang="en-US" altLang="es-CO"/>
              <a:pPr/>
              <a:t>28</a:t>
            </a:fld>
            <a:endParaRPr lang="en-US" alt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98A9E-B163-2E07-A1EC-0EF41D0D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81CAF1-2A05-7E4F-8D8B-6020992A8832}" type="datetimeFigureOut">
              <a:rPr lang="es-CO" altLang="en-US"/>
              <a:pPr>
                <a:defRPr/>
              </a:pPr>
              <a:t>11/08/26</a:t>
            </a:fld>
            <a:endParaRPr lang="es-CO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3A969-50D3-6342-CF32-3263F509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0C45B-9818-AFCB-319A-D35C6C1B7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1E8E57-55FB-3F4B-8380-33E13CB80B5C}" type="slidenum">
              <a:rPr lang="es-CO" altLang="en-US"/>
              <a:pPr/>
              <a:t>‹Nº›</a:t>
            </a:fld>
            <a:endParaRPr lang="es-CO" altLang="en-US"/>
          </a:p>
        </p:txBody>
      </p:sp>
    </p:spTree>
    <p:extLst>
      <p:ext uri="{BB962C8B-B14F-4D97-AF65-F5344CB8AC3E}">
        <p14:creationId xmlns:p14="http://schemas.microsoft.com/office/powerpoint/2010/main" val="221707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97471-7164-6E0E-4EE7-2DD33D0A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235AF-F0AA-E946-86D5-EEBD82D9068A}" type="datetimeFigureOut">
              <a:rPr lang="es-CO" altLang="en-US"/>
              <a:pPr>
                <a:defRPr/>
              </a:pPr>
              <a:t>11/08/26</a:t>
            </a:fld>
            <a:endParaRPr lang="es-CO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67FB4-D433-233C-2871-72650427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1DC80-9A08-B3D7-F7B2-D86810B8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ACBB7B-55B8-B845-ADC9-FB1B68EA5486}" type="slidenum">
              <a:rPr lang="es-CO" altLang="en-US"/>
              <a:pPr/>
              <a:t>‹Nº›</a:t>
            </a:fld>
            <a:endParaRPr lang="es-CO" altLang="en-US"/>
          </a:p>
        </p:txBody>
      </p:sp>
    </p:spTree>
    <p:extLst>
      <p:ext uri="{BB962C8B-B14F-4D97-AF65-F5344CB8AC3E}">
        <p14:creationId xmlns:p14="http://schemas.microsoft.com/office/powerpoint/2010/main" val="295368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E8189-70E2-155B-931B-5D28E7CF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5FB69-AE7F-F249-94F5-D02ABB46BEFE}" type="datetimeFigureOut">
              <a:rPr lang="es-CO" altLang="en-US"/>
              <a:pPr>
                <a:defRPr/>
              </a:pPr>
              <a:t>11/08/26</a:t>
            </a:fld>
            <a:endParaRPr lang="es-CO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7ED08-1CD2-8B7E-559C-3763C41D0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6C115-F1A0-660D-3AAE-C0F8E632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371D66-F7D1-B14F-BB87-F9AEA83B3CEA}" type="slidenum">
              <a:rPr lang="es-CO" altLang="en-US"/>
              <a:pPr/>
              <a:t>‹Nº›</a:t>
            </a:fld>
            <a:endParaRPr lang="es-CO" altLang="en-US"/>
          </a:p>
        </p:txBody>
      </p:sp>
    </p:spTree>
    <p:extLst>
      <p:ext uri="{BB962C8B-B14F-4D97-AF65-F5344CB8AC3E}">
        <p14:creationId xmlns:p14="http://schemas.microsoft.com/office/powerpoint/2010/main" val="349254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EA5AA2A-9A21-8895-45FA-9A19F2A90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FEEEF0-6885-3145-9496-5A20472136C8}" type="datetimeFigureOut">
              <a:rPr lang="es-CO" altLang="en-US"/>
              <a:pPr>
                <a:defRPr/>
              </a:pPr>
              <a:t>11/08/26</a:t>
            </a:fld>
            <a:endParaRPr lang="es-CO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0C2501E-B92C-0F37-5319-AABAB3FEB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E7A229-ED37-3FCE-32D8-7CF2E1306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DF9024-D4E2-1646-ABA9-42C541BC0F49}" type="slidenum">
              <a:rPr lang="es-CO" altLang="en-US"/>
              <a:pPr/>
              <a:t>‹Nº›</a:t>
            </a:fld>
            <a:endParaRPr lang="es-CO" altLang="en-US"/>
          </a:p>
        </p:txBody>
      </p:sp>
    </p:spTree>
    <p:extLst>
      <p:ext uri="{BB962C8B-B14F-4D97-AF65-F5344CB8AC3E}">
        <p14:creationId xmlns:p14="http://schemas.microsoft.com/office/powerpoint/2010/main" val="791485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ECBC8AA-932A-6ECA-37D3-69BC75EB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7B614-6C11-2E42-A8DE-E8F663D53C67}" type="datetimeFigureOut">
              <a:rPr lang="es-CO" altLang="en-US"/>
              <a:pPr>
                <a:defRPr/>
              </a:pPr>
              <a:t>11/08/26</a:t>
            </a:fld>
            <a:endParaRPr lang="es-CO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E103C9D-5912-F84B-386C-FC8400F3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2F2646-F092-BDDB-A107-A74ACBD1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3FF3F9-7EB5-1646-AA83-F93366FB3074}" type="slidenum">
              <a:rPr lang="es-CO" altLang="en-US"/>
              <a:pPr/>
              <a:t>‹Nº›</a:t>
            </a:fld>
            <a:endParaRPr lang="es-CO" altLang="en-US"/>
          </a:p>
        </p:txBody>
      </p:sp>
    </p:spTree>
    <p:extLst>
      <p:ext uri="{BB962C8B-B14F-4D97-AF65-F5344CB8AC3E}">
        <p14:creationId xmlns:p14="http://schemas.microsoft.com/office/powerpoint/2010/main" val="1069982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FECBFDC-920D-EA27-8AA1-D35A9EE2E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E4837-3554-F24C-AD46-D122DE9B3C72}" type="datetimeFigureOut">
              <a:rPr lang="es-CO" altLang="en-US"/>
              <a:pPr>
                <a:defRPr/>
              </a:pPr>
              <a:t>11/08/26</a:t>
            </a:fld>
            <a:endParaRPr lang="es-CO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51668C-4BDD-F6B2-910D-18517922A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B3D8857-A70D-CE62-51DB-4EA5A3CA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8FB82C-A751-C145-9C4D-118038E2357A}" type="slidenum">
              <a:rPr lang="es-CO" altLang="en-US"/>
              <a:pPr/>
              <a:t>‹Nº›</a:t>
            </a:fld>
            <a:endParaRPr lang="es-CO" altLang="en-US"/>
          </a:p>
        </p:txBody>
      </p:sp>
    </p:spTree>
    <p:extLst>
      <p:ext uri="{BB962C8B-B14F-4D97-AF65-F5344CB8AC3E}">
        <p14:creationId xmlns:p14="http://schemas.microsoft.com/office/powerpoint/2010/main" val="3120470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F54FC66-01A1-91D6-8BFE-AB3A9B97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E7992E-F65E-934D-B807-907710ADB4DC}" type="datetimeFigureOut">
              <a:rPr lang="es-CO" altLang="en-US"/>
              <a:pPr>
                <a:defRPr/>
              </a:pPr>
              <a:t>11/08/26</a:t>
            </a:fld>
            <a:endParaRPr lang="es-CO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C03154A-E9E9-098D-1501-C429E1899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CBA328-3A86-175B-0457-95A2F152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4D9DC1-5D4E-2D40-9499-49D47B6D66B6}" type="slidenum">
              <a:rPr lang="es-CO" altLang="en-US"/>
              <a:pPr/>
              <a:t>‹Nº›</a:t>
            </a:fld>
            <a:endParaRPr lang="es-CO" altLang="en-US"/>
          </a:p>
        </p:txBody>
      </p:sp>
    </p:spTree>
    <p:extLst>
      <p:ext uri="{BB962C8B-B14F-4D97-AF65-F5344CB8AC3E}">
        <p14:creationId xmlns:p14="http://schemas.microsoft.com/office/powerpoint/2010/main" val="4227377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9EEBDCF-5A96-CA18-AEC0-416B00FF2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BB644-340A-254B-889B-CF9607FD06FE}" type="datetimeFigureOut">
              <a:rPr lang="es-CO" altLang="en-US"/>
              <a:pPr>
                <a:defRPr/>
              </a:pPr>
              <a:t>11/08/26</a:t>
            </a:fld>
            <a:endParaRPr lang="es-CO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73C509-23C0-6586-934E-610F9CA40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23D34CC-6035-9CEB-C4BA-D53E8AD0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3A4F0E-6928-B44F-8582-137F764B59CF}" type="slidenum">
              <a:rPr lang="es-CO" altLang="en-US"/>
              <a:pPr/>
              <a:t>‹Nº›</a:t>
            </a:fld>
            <a:endParaRPr lang="es-CO" altLang="en-US"/>
          </a:p>
        </p:txBody>
      </p:sp>
    </p:spTree>
    <p:extLst>
      <p:ext uri="{BB962C8B-B14F-4D97-AF65-F5344CB8AC3E}">
        <p14:creationId xmlns:p14="http://schemas.microsoft.com/office/powerpoint/2010/main" val="903105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7C8033-189C-D993-A1D2-A9B72FE0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7E214-A2B4-FD47-A38E-3E2C40AC289C}" type="datetimeFigureOut">
              <a:rPr lang="es-CO" altLang="en-US"/>
              <a:pPr>
                <a:defRPr/>
              </a:pPr>
              <a:t>11/08/26</a:t>
            </a:fld>
            <a:endParaRPr lang="es-CO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55D1C1E-94B8-4E50-D026-431E576D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EA62D27-2808-298F-E99C-2B7AEB5A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A65F9A-31E9-DC49-83E2-DD85447B04B0}" type="slidenum">
              <a:rPr lang="es-CO" altLang="en-US"/>
              <a:pPr/>
              <a:t>‹Nº›</a:t>
            </a:fld>
            <a:endParaRPr lang="es-CO" altLang="en-US"/>
          </a:p>
        </p:txBody>
      </p:sp>
    </p:spTree>
    <p:extLst>
      <p:ext uri="{BB962C8B-B14F-4D97-AF65-F5344CB8AC3E}">
        <p14:creationId xmlns:p14="http://schemas.microsoft.com/office/powerpoint/2010/main" val="81786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304D3-C36C-7D90-F5EB-9E3CED98F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1FDB91-0DC7-3F47-9D77-BC3BEC3142C7}" type="datetimeFigureOut">
              <a:rPr lang="es-CO" altLang="en-US"/>
              <a:pPr>
                <a:defRPr/>
              </a:pPr>
              <a:t>11/08/26</a:t>
            </a:fld>
            <a:endParaRPr lang="es-CO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8D474-5D63-7D7D-8D5F-4F61A2CFE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370D4-4257-9E9A-F7F0-9C40A4F6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632C1E-2DD1-4749-AA2C-7A0E4B03D240}" type="slidenum">
              <a:rPr lang="es-CO" altLang="en-US"/>
              <a:pPr/>
              <a:t>‹Nº›</a:t>
            </a:fld>
            <a:endParaRPr lang="es-CO" altLang="en-US"/>
          </a:p>
        </p:txBody>
      </p:sp>
    </p:spTree>
    <p:extLst>
      <p:ext uri="{BB962C8B-B14F-4D97-AF65-F5344CB8AC3E}">
        <p14:creationId xmlns:p14="http://schemas.microsoft.com/office/powerpoint/2010/main" val="27787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81439-1AA1-3C66-E7B4-7F6F6F7E9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9F8BD-10EC-944C-833F-6FCEDAB9F7AE}" type="datetimeFigureOut">
              <a:rPr lang="es-CO" altLang="en-US"/>
              <a:pPr>
                <a:defRPr/>
              </a:pPr>
              <a:t>11/08/26</a:t>
            </a:fld>
            <a:endParaRPr lang="es-CO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E6F19-F971-1169-FC33-BB985A6CA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59FB6-AB5E-5CA4-8A59-4D3763D4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2F1A95-2EBC-FC44-AA80-BA84ADD2B334}" type="slidenum">
              <a:rPr lang="es-CO" altLang="en-US"/>
              <a:pPr/>
              <a:t>‹Nº›</a:t>
            </a:fld>
            <a:endParaRPr lang="es-CO" altLang="en-US"/>
          </a:p>
        </p:txBody>
      </p:sp>
    </p:spTree>
    <p:extLst>
      <p:ext uri="{BB962C8B-B14F-4D97-AF65-F5344CB8AC3E}">
        <p14:creationId xmlns:p14="http://schemas.microsoft.com/office/powerpoint/2010/main" val="754732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DA5B7F2-9B09-DE40-7786-88D14E28158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04800"/>
            <a:ext cx="78867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EA63A20-505D-DB02-1AF7-808D58FC7D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520825"/>
            <a:ext cx="7886700" cy="362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Editar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F8C5B-0899-ED13-264A-205FCB1D4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7488"/>
            <a:ext cx="2057400" cy="3032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E781792-01C4-3749-B98B-39E55B01EA5B}" type="datetimeFigureOut">
              <a:rPr lang="es-CO" altLang="en-US"/>
              <a:pPr>
                <a:defRPr/>
              </a:pPr>
              <a:t>11/08/26</a:t>
            </a:fld>
            <a:endParaRPr lang="es-CO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7C580-9317-2DF6-A548-33B5A0092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7488"/>
            <a:ext cx="30861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720913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81465-7C9A-7F2E-3404-801A2647A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7488"/>
            <a:ext cx="2057400" cy="3032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DEB553B0-5F5C-2F4D-A1BA-A99FD554E625}" type="slidenum">
              <a:rPr lang="es-CO" altLang="en-US"/>
              <a:pPr/>
              <a:t>‹Nº›</a:t>
            </a:fld>
            <a:endParaRPr lang="es-CO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MS PGothic" panose="020B0600070205080204" pitchFamily="34" charset="-128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MS PGothic" panose="020B0600070205080204" pitchFamily="34" charset="-128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MS PGothic" panose="020B0600070205080204" pitchFamily="34" charset="-128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MS PGothic" panose="020B0600070205080204" pitchFamily="34" charset="-128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MS PGothic" panose="020B0600070205080204" pitchFamily="34" charset="-128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MS PGothic" panose="020B0600070205080204" pitchFamily="34" charset="-128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MS PGothic" panose="020B0600070205080204" pitchFamily="34" charset="-128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MS PGothic" panose="020B0600070205080204" pitchFamily="34" charset="-128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01330640-40E5-0387-5F9B-B152ED475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7677" y="1036485"/>
            <a:ext cx="6259286" cy="2857947"/>
          </a:xfrm>
        </p:spPr>
        <p:txBody>
          <a:bodyPr/>
          <a:lstStyle/>
          <a:p>
            <a:pPr eaLnBrk="1" hangingPunct="1"/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MARKETING DIGITAL</a:t>
            </a:r>
            <a:br>
              <a:rPr lang="es-CO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CO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CO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CO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DANIELA VELASCO GIRON</a:t>
            </a:r>
            <a:br>
              <a:rPr lang="es-CO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CO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TECNOLOGÍA EN DESARROLLO DE SOFTWARE</a:t>
            </a:r>
            <a:br>
              <a:rPr lang="es-CO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CO" alt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C:\Users\AdminPC\Downloads\Logo_UX Final.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504" y="3894432"/>
            <a:ext cx="1525632" cy="97408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0CBD3805-7940-4653-8F22-65697F8A8C9B}"/>
              </a:ext>
            </a:extLst>
          </p:cNvPr>
          <p:cNvSpPr txBox="1">
            <a:spLocks/>
          </p:cNvSpPr>
          <p:nvPr/>
        </p:nvSpPr>
        <p:spPr bwMode="auto">
          <a:xfrm>
            <a:off x="199291" y="1459782"/>
            <a:ext cx="8340276" cy="1145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None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Si ustedes desarrollaran una aplicación y el día de mañana estuviera terminada, ¿Cómo conseguirían sus primeros 100 usuarios?</a:t>
            </a:r>
            <a:endParaRPr lang="es-CO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C:\Users\AdminPC\Downloads\Logo_UX Final.png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2944A813-1F27-F8E6-4BFB-9C4D31C3A634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5419971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Marketing Digital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1082AB1-A5DB-1689-5953-2C0870EA37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646" y="2605403"/>
            <a:ext cx="1583777" cy="191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1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4B3703-BE15-7AF5-5371-E5AABE863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C31CB530-90A3-09FC-2EBF-C910980BF103}"/>
              </a:ext>
            </a:extLst>
          </p:cNvPr>
          <p:cNvSpPr txBox="1">
            <a:spLocks/>
          </p:cNvSpPr>
          <p:nvPr/>
        </p:nvSpPr>
        <p:spPr bwMode="auto">
          <a:xfrm>
            <a:off x="199289" y="1533533"/>
            <a:ext cx="8371273" cy="1145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None/>
            </a:pP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Es el conjunto de prácticas que se desarrollan mediante canales, plataformas y tecnologías digitales para conectar a las organizaciones con sus usuarios o clientes. 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0319FC09-EFC4-CA82-D4DB-DE89DF09AFEC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5419971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Que es Marketing Digital?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19FF731D-02AF-F6A3-E5EA-F6F892C64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899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2B9E3-6696-7962-AD90-DE8947C7F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78F22CBE-A5DC-B2AB-3D06-4C5F13CF6B9C}"/>
              </a:ext>
            </a:extLst>
          </p:cNvPr>
          <p:cNvSpPr txBox="1">
            <a:spLocks/>
          </p:cNvSpPr>
          <p:nvPr/>
        </p:nvSpPr>
        <p:spPr bwMode="auto">
          <a:xfrm>
            <a:off x="199289" y="1533533"/>
            <a:ext cx="8371273" cy="1145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None/>
            </a:pPr>
            <a:r>
              <a:rPr lang="es-CO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Marketing Tradicional</a:t>
            </a:r>
          </a:p>
          <a:p>
            <a:pPr algn="just" eaLnBrk="1" hangingPunct="1">
              <a:spcBef>
                <a:spcPct val="0"/>
              </a:spcBef>
              <a:buNone/>
            </a:pPr>
            <a:endParaRPr lang="es-CO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Empresa </a:t>
            </a:r>
            <a:r>
              <a:rPr lang="es-CO" altLang="en-US" sz="2000" b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Medio  Público</a:t>
            </a:r>
            <a:endParaRPr lang="es-CO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75728EE-8F1F-C113-3443-88D5A52F4BB6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325496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Por qué surge el Marketing Digital?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897816DE-7E54-ADF0-FE43-C8E2D5742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5576901-DAD4-D3BC-9114-993126B7F7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933" y="2543686"/>
            <a:ext cx="7760134" cy="205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3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19834-C5E9-A998-6087-2B15264A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EFC685D-8229-AFCB-96D5-3C519ECDB92C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Marketing Tradicional Vs Digital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C153ECD2-5A7C-F68F-E2C4-500FA1268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1ED2260E-FB58-9782-8DC7-91EA02B34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728825"/>
              </p:ext>
            </p:extLst>
          </p:nvPr>
        </p:nvGraphicFramePr>
        <p:xfrm>
          <a:off x="1524000" y="155956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9974679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319527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Marketing Tradicional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Marketing Digital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787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Televisión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YouTube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559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Radio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Podcast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5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Periódicos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Blogs / Medios digitales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71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Publicidad digital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460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Correo físico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Correo electrónico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94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Tienda física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Comercio electrónico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13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964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28F27-3BCA-B340-BB8D-BCF73E089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02FCEE1A-B9B2-4B7D-D742-A43AFC4E0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444" y="2518030"/>
            <a:ext cx="7123112" cy="461963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s-CO" alt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EJEMPLOS</a:t>
            </a: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3BA2F6AE-FEB2-A8BD-2D68-22D08B61A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84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CF5FD-5167-FE1A-FEEB-1CBA758A9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FF8F7A24-D738-E5E5-506E-AF6D3BEBEE2B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Marketing Tradicional - Televisión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E0844C64-831B-2862-EACE-F9204CD62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65AFB90-E408-3863-3300-027D4FB9D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7141" y="1336729"/>
            <a:ext cx="2735608" cy="26919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792A471-DF39-EFF1-3443-D32D8DCF8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57" y="1688250"/>
            <a:ext cx="4231753" cy="234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84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BF9C8-345F-7F31-04A8-A8C071A53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0ABADDA0-96D1-4CA1-3C05-5A583DDF1C08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Marketing Digital - YouTube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4566AFDC-E3A5-6A0D-D208-A1DD74AB0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E7D7D5D-B7BC-18B3-A17E-98F2E4108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6583" y="1315267"/>
            <a:ext cx="5330952" cy="32405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88736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3FB96B-D279-B683-272A-7E2413EB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BEBEDCEE-A931-663B-29E6-4994E0AB2FD8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Marketing Tradicional - Radio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90755D3E-4083-7603-E00C-39317B070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61629D6-736A-62E6-6DED-30369A846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0641" y="1252305"/>
            <a:ext cx="4282717" cy="336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89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2936D-9684-B3FF-E6A3-732F14EA7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76BC935F-A424-F318-B872-320ADAFD9EA5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Marketing Tradicional – Periódicos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97BB9507-EFB4-7EF7-A312-3EEB226CF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4D3BBA0-8AB4-47C3-4AD4-CC480BE6A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729" y="1160864"/>
            <a:ext cx="3261271" cy="344109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78696AE-6600-C14C-7AA6-C149D45718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9840" y="1138004"/>
            <a:ext cx="2894311" cy="349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09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B4D70A-C4E5-B6DE-7372-A3819D898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04458077-017A-F6B1-25D9-67C9EC67B9A5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Marketing Tradicional – Vallas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F4ADD6B3-25AF-E7CC-0FA6-DC8E6160A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FB8E8A1-CD1C-43C5-3622-7FED18D3B0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78" t="5416" r="4294" b="6501"/>
          <a:stretch>
            <a:fillRect/>
          </a:stretch>
        </p:blipFill>
        <p:spPr>
          <a:xfrm>
            <a:off x="221868" y="1324170"/>
            <a:ext cx="4128206" cy="303599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0CD9121-D434-2C91-C8EA-8AFB5DF7FE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0634" y="1324170"/>
            <a:ext cx="3989897" cy="303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09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B2170-6D27-8939-8EF1-D7CDA43F5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3E003AE5-BDC3-44D2-BA20-777D7D619E34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Marketing Tradicional – Correo físico 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EA987776-EB6E-089F-C19C-74F5A64CA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30EB29B-162D-D2FF-2F27-58EE6F0CB1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905" y="1277054"/>
            <a:ext cx="2404604" cy="316089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DFD5C5B-06CB-2088-F7B0-BABEFEEE4A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0869" y="1277055"/>
            <a:ext cx="2393244" cy="316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30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297E8B-9FC0-9190-D260-85E21A906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B5F13315-8D77-7862-0D20-4384DCD55363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Marketing Digital – Correo electrónico  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B366F550-E049-94F4-5F10-9016A579F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4428455-5EAB-84BA-2DD1-0D6BD5441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0343" y="1320800"/>
            <a:ext cx="3249912" cy="32399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3ABFAFB-93FF-6DF2-D4D9-45B4D2FCC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524" y="1320800"/>
            <a:ext cx="3122402" cy="32399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40945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4875E5-80EA-2769-79EC-5FFA7C948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1E903C7F-C82D-1CB5-51C0-7B4E621A1242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Marketing Tradicional – Tienda física 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62F99C07-32C2-9EE0-C86C-0BD23C391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39A8BD0-6BCA-AD8F-730F-E64F0AB3A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350" y="1149350"/>
            <a:ext cx="6845300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67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68DA5-55A9-1599-8202-7C401A27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C65CC11E-D6EC-09C9-A71E-37E3980511AE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Marketing Tradicional – Comercio electrónico 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C9849787-A2DF-41A7-1FA6-87A8DC357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BDDEC67-6040-AA84-778D-77C0EDD98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7258" y="1077880"/>
            <a:ext cx="3909483" cy="355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20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9C99F7-D8B7-7183-69B7-E521A448B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A409DF27-FA5E-5694-4EDC-CF08900EC0B5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Dónde se desarrolla el Marketing Digital? 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6D565CFB-E015-9A4D-9AF7-8842A9D1D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EA862C7D-86C1-9E86-A87F-EBF3F32FF101}"/>
              </a:ext>
            </a:extLst>
          </p:cNvPr>
          <p:cNvSpPr txBox="1">
            <a:spLocks/>
          </p:cNvSpPr>
          <p:nvPr/>
        </p:nvSpPr>
        <p:spPr bwMode="auto">
          <a:xfrm>
            <a:off x="199290" y="1371690"/>
            <a:ext cx="8371273" cy="554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 eaLnBrk="1" hangingPunct="1">
              <a:spcBef>
                <a:spcPct val="0"/>
              </a:spcBef>
            </a:pP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Sitios web 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C60F3CC-8AC0-5D08-8CE5-009FA1B4741C}"/>
              </a:ext>
            </a:extLst>
          </p:cNvPr>
          <p:cNvSpPr txBox="1">
            <a:spLocks/>
          </p:cNvSpPr>
          <p:nvPr/>
        </p:nvSpPr>
        <p:spPr bwMode="auto">
          <a:xfrm>
            <a:off x="199288" y="1745138"/>
            <a:ext cx="8371273" cy="579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 eaLnBrk="1" hangingPunct="1">
              <a:spcBef>
                <a:spcPct val="0"/>
              </a:spcBef>
            </a:pP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Redes sociales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4840FDB-66ED-1B66-1A8C-208E35262F5F}"/>
              </a:ext>
            </a:extLst>
          </p:cNvPr>
          <p:cNvSpPr txBox="1">
            <a:spLocks/>
          </p:cNvSpPr>
          <p:nvPr/>
        </p:nvSpPr>
        <p:spPr bwMode="auto">
          <a:xfrm>
            <a:off x="199288" y="2550379"/>
            <a:ext cx="8371273" cy="554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 eaLnBrk="1" hangingPunct="1">
              <a:spcBef>
                <a:spcPct val="0"/>
              </a:spcBef>
            </a:pP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Correo electrónico 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7AE5899-0DA6-4CCD-976D-2BC6B866EF0A}"/>
              </a:ext>
            </a:extLst>
          </p:cNvPr>
          <p:cNvSpPr txBox="1">
            <a:spLocks/>
          </p:cNvSpPr>
          <p:nvPr/>
        </p:nvSpPr>
        <p:spPr bwMode="auto">
          <a:xfrm>
            <a:off x="199288" y="2965756"/>
            <a:ext cx="8371273" cy="554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 eaLnBrk="1" hangingPunct="1">
              <a:spcBef>
                <a:spcPct val="0"/>
              </a:spcBef>
            </a:pP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Comercio electrónico 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F2674D6-9879-C94B-B2E7-1EB8B42A4146}"/>
              </a:ext>
            </a:extLst>
          </p:cNvPr>
          <p:cNvSpPr txBox="1">
            <a:spLocks/>
          </p:cNvSpPr>
          <p:nvPr/>
        </p:nvSpPr>
        <p:spPr bwMode="auto">
          <a:xfrm>
            <a:off x="199287" y="3382855"/>
            <a:ext cx="8371273" cy="554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 eaLnBrk="1" hangingPunct="1">
              <a:spcBef>
                <a:spcPct val="0"/>
              </a:spcBef>
            </a:pP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Plataformas de video 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FF11F3B2-D42A-CFB9-034B-B6AD4BDB1180}"/>
              </a:ext>
            </a:extLst>
          </p:cNvPr>
          <p:cNvSpPr txBox="1">
            <a:spLocks/>
          </p:cNvSpPr>
          <p:nvPr/>
        </p:nvSpPr>
        <p:spPr bwMode="auto">
          <a:xfrm>
            <a:off x="199287" y="2162903"/>
            <a:ext cx="8371273" cy="554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 eaLnBrk="1" hangingPunct="1">
              <a:spcBef>
                <a:spcPct val="0"/>
              </a:spcBef>
            </a:pP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Aplicaciones móviles </a:t>
            </a:r>
          </a:p>
        </p:txBody>
      </p:sp>
    </p:spTree>
    <p:extLst>
      <p:ext uri="{BB962C8B-B14F-4D97-AF65-F5344CB8AC3E}">
        <p14:creationId xmlns:p14="http://schemas.microsoft.com/office/powerpoint/2010/main" val="1693462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85DB7-C194-D7DB-D00D-21AF744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ACACA2B5-B0B4-B811-9609-35C3B0C2A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11" y="2395537"/>
            <a:ext cx="8446577" cy="461963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s-CO" alt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LAS REDES SOCIALES SON UNICAMENTE UNO DE LOS CANALES DEL MARKETING DIGITAL</a:t>
            </a:r>
            <a:endParaRPr lang="es-CO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9BFA1DB0-45BF-DADE-1BDB-68DCD4F18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123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0916D-4AF2-7F29-C46E-ADC7FFEC5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C17218F4-C274-7F3D-51FB-38E5E6C40FD0}"/>
              </a:ext>
            </a:extLst>
          </p:cNvPr>
          <p:cNvSpPr txBox="1">
            <a:spLocks/>
          </p:cNvSpPr>
          <p:nvPr/>
        </p:nvSpPr>
        <p:spPr bwMode="auto">
          <a:xfrm>
            <a:off x="199290" y="1347429"/>
            <a:ext cx="8408682" cy="1145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ATRAER </a:t>
            </a: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INTERACTUAR  CONVERTIR  FIDELIZAR</a:t>
            </a:r>
            <a:endParaRPr lang="es-CO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2198932-8F3E-CDE8-6E7F-1CA6E40CECF0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Que busca el Marketing Digital?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2AF4A094-6566-BF12-BEB2-1C6986E6B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A429293D-7786-FE5E-6F67-62CB00F54240}"/>
              </a:ext>
            </a:extLst>
          </p:cNvPr>
          <p:cNvSpPr txBox="1">
            <a:spLocks/>
          </p:cNvSpPr>
          <p:nvPr/>
        </p:nvSpPr>
        <p:spPr bwMode="auto">
          <a:xfrm>
            <a:off x="0" y="2434622"/>
            <a:ext cx="8408682" cy="572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es-CO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Atraer</a:t>
            </a: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Conseguir que el usuario conozca la marca 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AD56F49B-45CE-6177-6B06-8BCF89BA675B}"/>
              </a:ext>
            </a:extLst>
          </p:cNvPr>
          <p:cNvSpPr txBox="1">
            <a:spLocks/>
          </p:cNvSpPr>
          <p:nvPr/>
        </p:nvSpPr>
        <p:spPr bwMode="auto">
          <a:xfrm>
            <a:off x="0" y="2893134"/>
            <a:ext cx="8408682" cy="572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es-CO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Interactuar</a:t>
            </a: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Generar interés y comunicación  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B66A7A14-18F7-869D-486A-EBCF4D62B5F4}"/>
              </a:ext>
            </a:extLst>
          </p:cNvPr>
          <p:cNvSpPr txBox="1">
            <a:spLocks/>
          </p:cNvSpPr>
          <p:nvPr/>
        </p:nvSpPr>
        <p:spPr bwMode="auto">
          <a:xfrm>
            <a:off x="0" y="3382100"/>
            <a:ext cx="8408682" cy="572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es-CO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Convertir</a:t>
            </a: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Lograr una acción deseada  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1BD20E53-6A72-BCB4-16B0-BF7D136843AB}"/>
              </a:ext>
            </a:extLst>
          </p:cNvPr>
          <p:cNvSpPr txBox="1">
            <a:spLocks/>
          </p:cNvSpPr>
          <p:nvPr/>
        </p:nvSpPr>
        <p:spPr bwMode="auto">
          <a:xfrm>
            <a:off x="0" y="3842054"/>
            <a:ext cx="8408682" cy="572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es-CO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Fidelizar</a:t>
            </a:r>
            <a:r>
              <a:rPr lang="es-CO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Mantener la relación con el usuario  </a:t>
            </a:r>
          </a:p>
        </p:txBody>
      </p:sp>
    </p:spTree>
    <p:extLst>
      <p:ext uri="{BB962C8B-B14F-4D97-AF65-F5344CB8AC3E}">
        <p14:creationId xmlns:p14="http://schemas.microsoft.com/office/powerpoint/2010/main" val="2756007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8DFDA-CE99-5C1A-DC06-77AF0123F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C81E4C7A-F01E-A52F-492C-6FED2E1F160C}"/>
              </a:ext>
            </a:extLst>
          </p:cNvPr>
          <p:cNvSpPr txBox="1">
            <a:spLocks/>
          </p:cNvSpPr>
          <p:nvPr/>
        </p:nvSpPr>
        <p:spPr bwMode="auto">
          <a:xfrm>
            <a:off x="199290" y="1459395"/>
            <a:ext cx="8408682" cy="1145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Plan estructurado de decisiones y acciones orientado a alcanzar objetivos específicos mediante el uso de canales y recursos digitales, teniendo en cuenta las características de una audiencia determinada. </a:t>
            </a:r>
            <a:endParaRPr lang="es-CO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EC1C104-5BB0-C854-3835-8DFBDC5F6BAC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Que es una Estrategia de Marketing Digital?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EF8FA430-04D9-E0BD-3833-0A8A510C9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9E0CFC8-8EFF-2437-8EE3-12E3673558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753"/>
          <a:stretch>
            <a:fillRect/>
          </a:stretch>
        </p:blipFill>
        <p:spPr>
          <a:xfrm>
            <a:off x="1616181" y="2699845"/>
            <a:ext cx="1484367" cy="193888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2881180-1A8F-E096-0533-F285965E0B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70" r="38196"/>
          <a:stretch>
            <a:fillRect/>
          </a:stretch>
        </p:blipFill>
        <p:spPr>
          <a:xfrm>
            <a:off x="3263615" y="2699845"/>
            <a:ext cx="1988400" cy="165143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E5156B2-283D-8062-2ADD-B69B2ED2E0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69"/>
          <a:stretch>
            <a:fillRect/>
          </a:stretch>
        </p:blipFill>
        <p:spPr>
          <a:xfrm>
            <a:off x="5415802" y="2605016"/>
            <a:ext cx="2085865" cy="174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3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46325-3455-E3E1-5AC0-E873663A2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8A2B0D96-F3CB-938A-AE77-C4D7A79E8C7D}"/>
              </a:ext>
            </a:extLst>
          </p:cNvPr>
          <p:cNvSpPr txBox="1">
            <a:spLocks/>
          </p:cNvSpPr>
          <p:nvPr/>
        </p:nvSpPr>
        <p:spPr bwMode="auto">
          <a:xfrm>
            <a:off x="199290" y="1459395"/>
            <a:ext cx="8408682" cy="1145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Sin estrategia 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Publicar </a:t>
            </a:r>
            <a:r>
              <a:rPr lang="es-ES" alt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Publicar  Publicar  No se obtiene respuesta. </a:t>
            </a:r>
            <a:endParaRPr lang="es-CO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571CC13E-58F2-1697-8270-D1E5B8077B36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Por qué necesitamos una estrategia?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5B6DE50A-7B60-A005-1198-4E3A99DEF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D77DBB54-8BEA-56BE-3567-EB3A6A61A877}"/>
              </a:ext>
            </a:extLst>
          </p:cNvPr>
          <p:cNvSpPr txBox="1">
            <a:spLocks/>
          </p:cNvSpPr>
          <p:nvPr/>
        </p:nvSpPr>
        <p:spPr bwMode="auto">
          <a:xfrm>
            <a:off x="199290" y="2537174"/>
            <a:ext cx="8408682" cy="1145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Con estrategia 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Objetivo </a:t>
            </a:r>
            <a:r>
              <a:rPr lang="es-ES" alt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Audiencia  Plan  Acción  Medición  Mejora </a:t>
            </a:r>
            <a:endParaRPr lang="es-CO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696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2610CC-46AC-A5C3-68C2-C55702D8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FE967E50-DDE9-12F6-E177-72AA99243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11" y="2395537"/>
            <a:ext cx="8446577" cy="461963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s-CO" alt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TENER MUCHAS PUBLICACIONES SIGNIFICA TENER UNA BUENA ESTRATEGIA?</a:t>
            </a:r>
            <a:endParaRPr lang="es-CO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2AFBE58A-6D3B-6454-AF8D-971463842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170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D6A8D0-2D02-CEB1-E231-75A327D4D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83A79F59-5243-5671-F2B5-4245DB90C1C3}"/>
              </a:ext>
            </a:extLst>
          </p:cNvPr>
          <p:cNvSpPr txBox="1">
            <a:spLocks/>
          </p:cNvSpPr>
          <p:nvPr/>
        </p:nvSpPr>
        <p:spPr bwMode="auto">
          <a:xfrm>
            <a:off x="199290" y="1333275"/>
            <a:ext cx="8408682" cy="1145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Ejemplo: </a:t>
            </a:r>
            <a:endParaRPr lang="es-E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Tenemos una aplicación para aprender programación </a:t>
            </a:r>
            <a:endParaRPr lang="es-CO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3A2E35D9-ED89-77B4-FB0A-7EED417D8988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quién queremos llegar?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49FC2198-B63D-B427-F788-87B9BF516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7F1F6BD5-8755-0E64-C340-046496108254}"/>
              </a:ext>
            </a:extLst>
          </p:cNvPr>
          <p:cNvSpPr txBox="1">
            <a:spLocks/>
          </p:cNvSpPr>
          <p:nvPr/>
        </p:nvSpPr>
        <p:spPr bwMode="auto">
          <a:xfrm>
            <a:off x="199290" y="2381455"/>
            <a:ext cx="8408682" cy="572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Le hablamos a: 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416A1CC-A796-9640-A952-A87318E00068}"/>
              </a:ext>
            </a:extLst>
          </p:cNvPr>
          <p:cNvSpPr txBox="1">
            <a:spLocks/>
          </p:cNvSpPr>
          <p:nvPr/>
        </p:nvSpPr>
        <p:spPr bwMode="auto">
          <a:xfrm>
            <a:off x="199290" y="2892062"/>
            <a:ext cx="8408682" cy="572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es-E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Niños de 10 años? 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AF04519-3BF2-464F-F2EB-A3D5F928E85E}"/>
              </a:ext>
            </a:extLst>
          </p:cNvPr>
          <p:cNvSpPr txBox="1">
            <a:spLocks/>
          </p:cNvSpPr>
          <p:nvPr/>
        </p:nvSpPr>
        <p:spPr bwMode="auto">
          <a:xfrm>
            <a:off x="199290" y="3367431"/>
            <a:ext cx="8408682" cy="572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es-E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Estudiantes profesionales? 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EEDA1C0-BF61-789A-1D4D-1EDEFCDCFFEB}"/>
              </a:ext>
            </a:extLst>
          </p:cNvPr>
          <p:cNvSpPr txBox="1">
            <a:spLocks/>
          </p:cNvSpPr>
          <p:nvPr/>
        </p:nvSpPr>
        <p:spPr bwMode="auto">
          <a:xfrm>
            <a:off x="199290" y="3878038"/>
            <a:ext cx="8408682" cy="572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es-E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Personas que quieren aprender desde cero? </a:t>
            </a:r>
          </a:p>
        </p:txBody>
      </p:sp>
    </p:spTree>
    <p:extLst>
      <p:ext uri="{BB962C8B-B14F-4D97-AF65-F5344CB8AC3E}">
        <p14:creationId xmlns:p14="http://schemas.microsoft.com/office/powerpoint/2010/main" val="371643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23E93-7F1F-6FB6-BC84-8A69536DB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A764450-224F-DD2A-4AE3-90AB90AF1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444" y="2518030"/>
            <a:ext cx="7123112" cy="461963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s-CO" alt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LA ESTRATEGIA CAMBIA DEPENDIENDO DE LA AUDIENCIA.</a:t>
            </a: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66401B0B-8EE6-4090-B5C7-EB0D9DB43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8429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8C446-180F-9398-6DEF-804F67BC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B18D1FC9-94CD-2092-8D45-5153909F484F}"/>
              </a:ext>
            </a:extLst>
          </p:cNvPr>
          <p:cNvSpPr txBox="1">
            <a:spLocks/>
          </p:cNvSpPr>
          <p:nvPr/>
        </p:nvSpPr>
        <p:spPr bwMode="auto">
          <a:xfrm>
            <a:off x="199290" y="203194"/>
            <a:ext cx="6486009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Tabla de audiencias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41F1D130-4862-5AC7-7188-4E254FB0F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29EA80E-B54A-2287-9B92-6AB65BED3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352549"/>
              </p:ext>
            </p:extLst>
          </p:nvPr>
        </p:nvGraphicFramePr>
        <p:xfrm>
          <a:off x="1862666" y="1188720"/>
          <a:ext cx="5757333" cy="3080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447">
                  <a:extLst>
                    <a:ext uri="{9D8B030D-6E8A-4147-A177-3AD203B41FA5}">
                      <a16:colId xmlns:a16="http://schemas.microsoft.com/office/drawing/2014/main" val="1399746795"/>
                    </a:ext>
                  </a:extLst>
                </a:gridCol>
                <a:gridCol w="3123886">
                  <a:extLst>
                    <a:ext uri="{9D8B030D-6E8A-4147-A177-3AD203B41FA5}">
                      <a16:colId xmlns:a16="http://schemas.microsoft.com/office/drawing/2014/main" val="1731952791"/>
                    </a:ext>
                  </a:extLst>
                </a:gridCol>
              </a:tblGrid>
              <a:tr h="306719">
                <a:tc>
                  <a:txBody>
                    <a:bodyPr/>
                    <a:lstStyle/>
                    <a:p>
                      <a:pPr algn="ctr"/>
                      <a:r>
                        <a:rPr lang="es-E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Características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787944"/>
                  </a:ext>
                </a:extLst>
              </a:tr>
              <a:tr h="306719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Producto / Servicio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Aplicación para programar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128540"/>
                  </a:ext>
                </a:extLst>
              </a:tr>
              <a:tr h="306719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18-30 años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559632"/>
                  </a:ext>
                </a:extLst>
              </a:tr>
              <a:tr h="306719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Ocupación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Estudiantes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52510"/>
                  </a:ext>
                </a:extLst>
              </a:tr>
              <a:tr h="306719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Necesidad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Aprender a programar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71067"/>
                  </a:ext>
                </a:extLst>
              </a:tr>
              <a:tr h="306719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saben por dónde comenzar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460642"/>
                  </a:ext>
                </a:extLst>
              </a:tr>
              <a:tr h="306719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Tecnología, Videojuegos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943332"/>
                  </a:ext>
                </a:extLst>
              </a:tr>
              <a:tr h="306719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Canal 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TikTok, YouTube, Instagram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13587"/>
                  </a:ext>
                </a:extLst>
              </a:tr>
              <a:tr h="306719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Motivación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Conseguir empleo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381880"/>
                  </a:ext>
                </a:extLst>
              </a:tr>
              <a:tr h="306719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Comportamiento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Visualiza tutoriales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187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068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5476EE-61AC-5EEB-B72A-0E923BD57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DB60519-4BB7-0FCE-80A7-7156E5061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444" y="2626518"/>
            <a:ext cx="7123112" cy="461963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s-CO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CONOCER A NUESTRA AUDIENCIA NOS PERMITE TOMAR MEJORES DECISIONES.</a:t>
            </a: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F3331897-B0EB-21B4-2397-19EE0861C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4771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25AA38-18BC-031D-A22F-9B0C37DF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CB748D01-D410-A2A6-979F-8328D7556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765" y="2626518"/>
            <a:ext cx="7123112" cy="46196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s-CO" alt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PREGUNTAS</a:t>
            </a:r>
            <a:endParaRPr lang="es-CO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842A8F33-8425-17BF-71DB-7823659A1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0164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553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B7EC8-62BE-1ADB-8133-C94243CE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66B9400D-F6DE-90B3-952F-4A933178D734}"/>
              </a:ext>
            </a:extLst>
          </p:cNvPr>
          <p:cNvSpPr txBox="1">
            <a:spLocks/>
          </p:cNvSpPr>
          <p:nvPr/>
        </p:nvSpPr>
        <p:spPr bwMode="auto">
          <a:xfrm>
            <a:off x="163305" y="1689915"/>
            <a:ext cx="8817387" cy="281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None/>
            </a:pPr>
            <a:r>
              <a:rPr lang="es-MX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Cada grupo seleccionará un producto, servicio o solución tecnológica y un canal digital y tradicional para construir una tabla de audiencias. Además, deben responder las siguientes preguntas</a:t>
            </a:r>
            <a:r>
              <a:rPr lang="es-MX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eaLnBrk="1" hangingPunct="1">
              <a:spcBef>
                <a:spcPct val="0"/>
              </a:spcBef>
              <a:buNone/>
            </a:pPr>
            <a:endParaRPr lang="es-MX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MX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1. La audiencia es exactamente la misma en ambos medios?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s-MX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2. Qué caracteristicas de la audiencia cambian al utilizar un medio diferente?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s-MX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3. Qué medios consideran más adecuados para el producto seleccionado? </a:t>
            </a:r>
          </a:p>
          <a:p>
            <a:pPr algn="just" eaLnBrk="1" hangingPunct="1">
              <a:spcBef>
                <a:spcPct val="0"/>
              </a:spcBef>
              <a:buNone/>
            </a:pPr>
            <a:endParaRPr lang="es-MX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 eaLnBrk="1" hangingPunct="1">
              <a:spcBef>
                <a:spcPct val="0"/>
              </a:spcBef>
            </a:pPr>
            <a:r>
              <a:rPr lang="es-MX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Grupo de 3</a:t>
            </a:r>
          </a:p>
          <a:p>
            <a:pPr marL="285750" indent="-285750" algn="just" eaLnBrk="1" hangingPunct="1">
              <a:spcBef>
                <a:spcPct val="0"/>
              </a:spcBef>
            </a:pPr>
            <a:r>
              <a:rPr lang="es-MX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Documento en pdf</a:t>
            </a:r>
          </a:p>
          <a:p>
            <a:pPr marL="285750" indent="-285750" algn="just" eaLnBrk="1" hangingPunct="1">
              <a:spcBef>
                <a:spcPct val="0"/>
              </a:spcBef>
            </a:pPr>
            <a:r>
              <a:rPr lang="es-MX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Enviar al correo electronico el 18 de agosto del 2026</a:t>
            </a:r>
          </a:p>
          <a:p>
            <a:pPr marL="285750" indent="-285750" algn="just" eaLnBrk="1" hangingPunct="1">
              <a:spcBef>
                <a:spcPct val="0"/>
              </a:spcBef>
            </a:pPr>
            <a:r>
              <a:rPr lang="es-MX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Socialización en clase   </a:t>
            </a:r>
          </a:p>
          <a:p>
            <a:pPr algn="just" eaLnBrk="1" hangingPunct="1">
              <a:spcBef>
                <a:spcPct val="0"/>
              </a:spcBef>
              <a:buNone/>
            </a:pPr>
            <a:endParaRPr lang="es-MX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buNone/>
            </a:pPr>
            <a:endParaRPr lang="es-MX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655BB86-3B35-3319-C0C6-09397E2DB05C}"/>
              </a:ext>
            </a:extLst>
          </p:cNvPr>
          <p:cNvSpPr txBox="1">
            <a:spLocks/>
          </p:cNvSpPr>
          <p:nvPr/>
        </p:nvSpPr>
        <p:spPr bwMode="auto">
          <a:xfrm>
            <a:off x="199291" y="0"/>
            <a:ext cx="4372708" cy="8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endParaRPr lang="es-MX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s-CO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Actividad</a:t>
            </a:r>
            <a:endParaRPr lang="es-CO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C:\Users\AdminPC\Downloads\Logo_UX Final.png">
            <a:extLst>
              <a:ext uri="{FF2B5EF4-FFF2-40B4-BE49-F238E27FC236}">
                <a16:creationId xmlns:a16="http://schemas.microsoft.com/office/drawing/2014/main" id="{A4B7B261-E07A-B6CA-1C5B-DFD6B30FE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99" y="112151"/>
            <a:ext cx="1184473" cy="75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0250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5A2D667F-BBB9-5E1F-9D9E-334FDE24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495" y="1330036"/>
            <a:ext cx="7291010" cy="3278879"/>
          </a:xfrm>
        </p:spPr>
        <p:txBody>
          <a:bodyPr/>
          <a:lstStyle/>
          <a:p>
            <a:pPr algn="ctr" eaLnBrk="1" hangingPunct="1"/>
            <a:br>
              <a:rPr lang="es-CO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alt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GRACIAS.</a:t>
            </a:r>
            <a:endParaRPr lang="es-CO" altLang="en-US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0174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12462</TotalTime>
  <Words>520</Words>
  <Application>Microsoft Macintosh PowerPoint</Application>
  <PresentationFormat>Presentación en pantalla (16:10)</PresentationFormat>
  <Paragraphs>146</Paragraphs>
  <Slides>29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Tema de Office</vt:lpstr>
      <vt:lpstr>MARKETING DIGITAL    DANIELA VELASCO GIRON  TECNOLOGÍA EN DESARROLLO DE SOFTWARE </vt:lpstr>
      <vt:lpstr>Presentación de PowerPoint</vt:lpstr>
      <vt:lpstr>Presentación de PowerPoint</vt:lpstr>
      <vt:lpstr>Presentación de PowerPoint</vt:lpstr>
      <vt:lpstr>Presentación de PowerPoint</vt:lpstr>
      <vt:lpstr>EJEMPLOS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LAS REDES SOCIALES SON UNICAMENTE UNO DE LOS CANALES DEL MARKETING DIGITAL</vt:lpstr>
      <vt:lpstr>Presentación de PowerPoint</vt:lpstr>
      <vt:lpstr>Presentación de PowerPoint</vt:lpstr>
      <vt:lpstr>Presentación de PowerPoint</vt:lpstr>
      <vt:lpstr>TENER MUCHAS PUBLICACIONES SIGNIFICA TENER UNA BUENA ESTRATEGIA?</vt:lpstr>
      <vt:lpstr>Presentación de PowerPoint</vt:lpstr>
      <vt:lpstr>LA ESTRATEGIA CAMBIA DEPENDIENDO DE LA AUDIENCIA.</vt:lpstr>
      <vt:lpstr>Presentación de PowerPoint</vt:lpstr>
      <vt:lpstr>CONOCER A NUESTRA AUDIENCIA NOS PERMITE TOMAR MEJORES DECISIONES.</vt:lpstr>
      <vt:lpstr>PREGUNTAS</vt:lpstr>
      <vt:lpstr>Presentación de PowerPoint</vt:lpstr>
      <vt:lpstr> GRACIAS.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CésareLe</dc:creator>
  <cp:lastModifiedBy>Daniela Velasco Giron</cp:lastModifiedBy>
  <cp:revision>254</cp:revision>
  <dcterms:created xsi:type="dcterms:W3CDTF">2018-02-28T02:48:37Z</dcterms:created>
  <dcterms:modified xsi:type="dcterms:W3CDTF">2026-08-12T03:07:54Z</dcterms:modified>
</cp:coreProperties>
</file>